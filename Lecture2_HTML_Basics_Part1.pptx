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240280"/>
            <a:ext cx="1737360" cy="411480"/>
          </a:xfrm>
          <a:prstGeom prst="roundRect">
            <a:avLst>
              <a:gd name="adj" fmla="val 17778"/>
            </a:avLst>
          </a:prstGeom>
          <a:solidFill>
            <a:srgbClr val="21C0A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402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Basics – Part I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21C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Structure  •  Headings &amp; Paragraphs  •  Comments  •  Text Formatting  •  Elements &amp; Attributes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68680" y="4297680"/>
            <a:ext cx="2926080" cy="0"/>
          </a:xfrm>
          <a:prstGeom prst="line">
            <a:avLst/>
          </a:prstGeom>
          <a:noFill/>
          <a:ln w="25400">
            <a:solidFill>
              <a:srgbClr val="21C0A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HTML?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61264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stands for HyperText Markup Language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standard markup language used to create the structure and content of web pages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uses a system of tags (elements) to mark up text, images, links, and other content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 read HTML and render it as a visual web page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49440" y="2011680"/>
            <a:ext cx="4663440" cy="2743200"/>
          </a:xfrm>
          <a:prstGeom prst="roundRect">
            <a:avLst>
              <a:gd name="adj" fmla="val 2667"/>
            </a:avLst>
          </a:prstGeom>
          <a:solidFill>
            <a:srgbClr val="10243A"/>
          </a:solidFill>
          <a:ln/>
        </p:spPr>
      </p:sp>
      <p:sp>
        <p:nvSpPr>
          <p:cNvPr id="7" name="Shape 5"/>
          <p:cNvSpPr/>
          <p:nvPr/>
        </p:nvSpPr>
        <p:spPr>
          <a:xfrm>
            <a:off x="7114032" y="215798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0" y="215798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9" name="Shape 7"/>
          <p:cNvSpPr/>
          <p:nvPr/>
        </p:nvSpPr>
        <p:spPr>
          <a:xfrm>
            <a:off x="7516368" y="215798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0" y="2395728"/>
            <a:ext cx="41148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&lt;h1&gt;Hello, World!&lt;/h1&gt;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&lt;p&gt;This is my first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 page.&lt;/p&gt;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Basics – Part 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Document Structure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120640" cy="3931920"/>
          </a:xfrm>
          <a:prstGeom prst="roundRect">
            <a:avLst>
              <a:gd name="adj" fmla="val 1860"/>
            </a:avLst>
          </a:prstGeom>
          <a:solidFill>
            <a:srgbClr val="10243A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206654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06654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" y="206654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304288"/>
            <a:ext cx="4572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&lt;head&gt;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&lt;title&gt;Page Title&lt;/title&gt;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&lt;/head&gt;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&lt;body&gt;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&lt;h1&gt;My Heading&lt;/h1&gt;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&lt;p&gt;My paragraph.&lt;/p&gt;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&lt;/body&gt;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943600" y="19659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66760" y="196596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browser this is an HTML5 document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43600" y="27432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66760" y="274320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element — wraps all page content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43600" y="35204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66760" y="352044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meta info, title, links (not visible on page)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43600" y="42976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&lt;title&gt;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66760" y="429768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text shown in the browser tab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943600" y="50749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66760" y="507492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everything visible on the page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Basics – Part 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DOCTYPE, html, head, title &amp; body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EAF3F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128016" cy="1783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0574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48716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the first line. Declares HTML5 so the browser renders the page in standards mode.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92024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EAF3F7"/>
          </a:solidFill>
          <a:ln/>
        </p:spPr>
      </p:sp>
      <p:sp>
        <p:nvSpPr>
          <p:cNvPr id="10" name="Shape 8"/>
          <p:cNvSpPr/>
          <p:nvPr/>
        </p:nvSpPr>
        <p:spPr>
          <a:xfrm>
            <a:off x="6309360" y="1920240"/>
            <a:ext cx="128016" cy="1783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20574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 ... &lt;/html&gt;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29400" y="248716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outermost element. Every other tag on the page goes inside it.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EAF3F7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977640"/>
            <a:ext cx="128016" cy="1783080"/>
          </a:xfrm>
          <a:prstGeom prst="rect">
            <a:avLst/>
          </a:prstGeom>
          <a:solidFill>
            <a:srgbClr val="21C0A5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1148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C0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 ... &lt;/head&gt;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454456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section: title, character set, linked CSS files. Not shown on the page itself.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09360" y="397764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EAF3F7"/>
          </a:solidFill>
          <a:ln/>
        </p:spPr>
      </p:sp>
      <p:sp>
        <p:nvSpPr>
          <p:cNvPr id="18" name="Shape 16"/>
          <p:cNvSpPr/>
          <p:nvPr/>
        </p:nvSpPr>
        <p:spPr>
          <a:xfrm>
            <a:off x="6309360" y="3977640"/>
            <a:ext cx="128016" cy="17830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41148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&lt;title&gt; ... &lt;/title&gt;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29400" y="454456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&lt;head&gt;. Sets the browser tab text and the name used when bookmarking.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Basics – Part 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CONTENT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Headings: &lt;h1&gt; to &lt;h6&gt;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 define a hierarchy of importance — &lt;h1&gt; is the most important, &lt;h6&gt; the least. Use them in order; don't skip levels just to change size.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828800" y="251460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Heading level 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1318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828800" y="313182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Heading level 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3735324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&lt;h3&gt;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828800" y="3735324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Heading level 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432511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&lt;h4&gt;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828800" y="4325112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Heading level 4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48640" y="4901184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&lt;h5&gt;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828800" y="4901184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Heading level 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54635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&lt;h6&gt;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828800" y="546354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Heading level 6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0" y="2514600"/>
            <a:ext cx="3383280" cy="1920240"/>
          </a:xfrm>
          <a:prstGeom prst="roundRect">
            <a:avLst>
              <a:gd name="adj" fmla="val 3810"/>
            </a:avLst>
          </a:prstGeom>
          <a:solidFill>
            <a:srgbClr val="1024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394192" y="266090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Shape 18"/>
          <p:cNvSpPr/>
          <p:nvPr/>
        </p:nvSpPr>
        <p:spPr>
          <a:xfrm>
            <a:off x="8595360" y="266090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1" name="Shape 19"/>
          <p:cNvSpPr/>
          <p:nvPr/>
        </p:nvSpPr>
        <p:spPr>
          <a:xfrm>
            <a:off x="8796528" y="266090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2898648"/>
            <a:ext cx="2834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&lt;h1&gt;Chapter Title&lt;/h1&gt;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&lt;h2&gt;Section&lt;/h2&gt;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&lt;h3&gt;Sub-section&lt;/h3&gt;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Basics – Part 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CONTENT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Paragraphs: &lt;p&gt;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6035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&lt;p&gt; tag defines a paragraph of text</a:t>
            </a:r>
            <a:endParaRPr lang="en-US" sz="14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 automatically add space before and after each paragraph</a:t>
            </a:r>
            <a:endParaRPr lang="en-US" sz="14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spaces and line breaks typed in the HTML source are ignored — the browser collapses them</a:t>
            </a:r>
            <a:endParaRPr lang="en-US" sz="14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force a line break inside a paragraph, use &lt;br&gt; instead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0" y="2011680"/>
            <a:ext cx="4754880" cy="3108960"/>
          </a:xfrm>
          <a:prstGeom prst="roundRect">
            <a:avLst>
              <a:gd name="adj" fmla="val 2353"/>
            </a:avLst>
          </a:prstGeom>
          <a:solidFill>
            <a:srgbClr val="10243A"/>
          </a:solidFill>
          <a:ln/>
        </p:spPr>
      </p:sp>
      <p:sp>
        <p:nvSpPr>
          <p:cNvPr id="7" name="Shape 5"/>
          <p:cNvSpPr/>
          <p:nvPr/>
        </p:nvSpPr>
        <p:spPr>
          <a:xfrm>
            <a:off x="7022592" y="215798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7223760" y="215798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9" name="Shape 7"/>
          <p:cNvSpPr/>
          <p:nvPr/>
        </p:nvSpPr>
        <p:spPr>
          <a:xfrm>
            <a:off x="7424928" y="215798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0" y="2395728"/>
            <a:ext cx="42062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This is the first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paragraph  of text.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&lt;p&gt;This is a second,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separate paragraph.&lt;/p&gt;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Basics – Part 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CONTENT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Breaks: &lt;br&gt;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6035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&lt;br&gt; tag inserts a single line break</a:t>
            </a:r>
            <a:endParaRPr lang="en-US" sz="14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an empty element — it has no closing tag and no content</a:t>
            </a:r>
            <a:endParaRPr lang="en-US" sz="14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addresses, poems, or short lines that must break at a specific point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0" y="2011680"/>
            <a:ext cx="4754880" cy="2377440"/>
          </a:xfrm>
          <a:prstGeom prst="roundRect">
            <a:avLst>
              <a:gd name="adj" fmla="val 3077"/>
            </a:avLst>
          </a:prstGeom>
          <a:solidFill>
            <a:srgbClr val="10243A"/>
          </a:solidFill>
          <a:ln/>
        </p:spPr>
      </p:sp>
      <p:sp>
        <p:nvSpPr>
          <p:cNvPr id="7" name="Shape 5"/>
          <p:cNvSpPr/>
          <p:nvPr/>
        </p:nvSpPr>
        <p:spPr>
          <a:xfrm>
            <a:off x="7022592" y="215798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7223760" y="215798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9" name="Shape 7"/>
          <p:cNvSpPr/>
          <p:nvPr/>
        </p:nvSpPr>
        <p:spPr>
          <a:xfrm>
            <a:off x="7424928" y="215798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0" y="2395728"/>
            <a:ext cx="4206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123 Main Street&lt;br&gt;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Islamabad&lt;br&gt;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Pakistan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&lt;/p&gt;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70916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7091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Don't use multiple &lt;br&gt; tags just to add visual space between paragraphs — use CSS margin/padding for spacing instead.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Basics – Part 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PRACTICE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Comments in HTML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60350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are notes in the code that the browser ignores — not shown on the page</a:t>
            </a:r>
            <a:endParaRPr lang="en-US" sz="14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&lt;!-- comment text --&gt;</a:t>
            </a:r>
            <a:endParaRPr lang="en-US" sz="14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explain code, leave reminders, or temporarily disable a section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0" y="2011680"/>
            <a:ext cx="4754880" cy="2743200"/>
          </a:xfrm>
          <a:prstGeom prst="roundRect">
            <a:avLst>
              <a:gd name="adj" fmla="val 2667"/>
            </a:avLst>
          </a:prstGeom>
          <a:solidFill>
            <a:srgbClr val="10243A"/>
          </a:solidFill>
          <a:ln/>
        </p:spPr>
      </p:sp>
      <p:sp>
        <p:nvSpPr>
          <p:cNvPr id="7" name="Shape 5"/>
          <p:cNvSpPr/>
          <p:nvPr/>
        </p:nvSpPr>
        <p:spPr>
          <a:xfrm>
            <a:off x="7022592" y="215798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7223760" y="2157984"/>
            <a:ext cx="128016" cy="128016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9" name="Shape 7"/>
          <p:cNvSpPr/>
          <p:nvPr/>
        </p:nvSpPr>
        <p:spPr>
          <a:xfrm>
            <a:off x="7424928" y="2157984"/>
            <a:ext cx="128016" cy="12801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0" y="2395728"/>
            <a:ext cx="4206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This is the main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navigation menu --&gt;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&lt;p&gt;Visible text&lt;/p&gt;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&lt;p&gt;This is hidden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and won't show&lt;/p&gt; --&gt;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Basics – Part 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CONTENT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Text Formatting Elements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574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&lt;b&gt;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606040" y="20574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text (visual only)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96596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20574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&lt;strong&gt;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366760" y="20574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text (bold + semantic meaning)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1546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&lt;i&gt;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06040" y="31546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Italic text (visual only)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306324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31546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&lt;em&gt;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66760" y="31546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Emphasised text (italic + semantic meaning)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2519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&lt;small&gt;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06040" y="42519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text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416052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2519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&lt;mark&gt;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66760" y="42519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/ marked text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25780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3492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&lt;sub&gt; / &lt;sup&gt;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606040" y="53492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 / superscript text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360" y="525780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53492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&lt;hr&gt;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366760" y="53492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horizontal rule (thematic break)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Basics – Part 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Elements and Attributes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HTML element usually consists of a start tag, content, and an end tag.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10243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06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</a:t>
            </a:r>
            <a:pPr indent="0" marL="0">
              <a:buNone/>
            </a:pPr>
            <a:r>
              <a:rPr lang="en-US" sz="1800" dirty="0">
                <a:solidFill>
                  <a:srgbClr val="FFD3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href</a:t>
            </a:r>
            <a:pPr indent="0" marL="0">
              <a:buNone/>
            </a:pPr>
            <a:r>
              <a:rPr lang="en-US" sz="18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1800" dirty="0">
                <a:solidFill>
                  <a:srgbClr val="9BE3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"https://example.com"</a:t>
            </a:r>
            <a:pPr indent="0" marL="0">
              <a:buNone/>
            </a:pPr>
            <a:r>
              <a:rPr lang="en-US" sz="18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buNone/>
            </a:pPr>
            <a:r>
              <a:rPr lang="en-US" sz="1800" dirty="0">
                <a:solidFill>
                  <a:srgbClr val="CFE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 here</a:t>
            </a:r>
            <a:pPr indent="0" marL="0">
              <a:buNone/>
            </a:pPr>
            <a:r>
              <a:rPr lang="en-US" sz="1800" dirty="0">
                <a:solidFill>
                  <a:srgbClr val="8FD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82219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7947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tag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834640" y="3794760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 ...&gt;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32511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2976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Attribute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834640" y="4297680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href="..."  — extra info about the element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82803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80060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834640" y="4800600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here — text shown to the user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33095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53035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tag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834640" y="5303520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&lt;/a&gt;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5943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attributes: id, class, style, src, href, alt, title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Basics – Part 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657600" cy="36576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188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1C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TASK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Student Profile Page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basic personal / student profile webpage using what you learned today: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3017520"/>
            <a:ext cx="320040" cy="320040"/>
          </a:xfrm>
          <a:prstGeom prst="roundRect">
            <a:avLst>
              <a:gd name="adj" fmla="val 17143"/>
            </a:avLst>
          </a:prstGeom>
          <a:ln w="19050">
            <a:solidFill>
              <a:srgbClr val="21C0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944368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HTML structure (DOCTYPE, html, head, title, body)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3611880"/>
            <a:ext cx="320040" cy="320040"/>
          </a:xfrm>
          <a:prstGeom prst="roundRect">
            <a:avLst>
              <a:gd name="adj" fmla="val 17143"/>
            </a:avLst>
          </a:prstGeom>
          <a:ln w="19050">
            <a:solidFill>
              <a:srgbClr val="21C0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3538728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main heading &lt;h1&gt; with your name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2960" y="4206240"/>
            <a:ext cx="320040" cy="320040"/>
          </a:xfrm>
          <a:prstGeom prst="roundRect">
            <a:avLst>
              <a:gd name="adj" fmla="val 17143"/>
            </a:avLst>
          </a:prstGeom>
          <a:ln w="19050">
            <a:solidFill>
              <a:srgbClr val="21C0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4133088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two sub-headings (e.g. "About Me", "Education")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4800600"/>
            <a:ext cx="320040" cy="320040"/>
          </a:xfrm>
          <a:prstGeom prst="roundRect">
            <a:avLst>
              <a:gd name="adj" fmla="val 17143"/>
            </a:avLst>
          </a:prstGeom>
          <a:ln w="19050">
            <a:solidFill>
              <a:srgbClr val="21C0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4727448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Paragraphs describing yourself, using &lt;br&gt; where needed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22960" y="5394960"/>
            <a:ext cx="320040" cy="320040"/>
          </a:xfrm>
          <a:prstGeom prst="roundRect">
            <a:avLst>
              <a:gd name="adj" fmla="val 17143"/>
            </a:avLst>
          </a:prstGeom>
          <a:ln w="19050">
            <a:solidFill>
              <a:srgbClr val="21C0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5321808"/>
            <a:ext cx="932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use of &lt;strong&gt;/&lt;em&gt; and a comment in the code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Basics – Part 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048256"/>
            <a:ext cx="310896" cy="31089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01168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HTML page starts with &lt;!DOCTYPE html&gt; and is wrapped in &lt;html&gt;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761488"/>
            <a:ext cx="310896" cy="31089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72491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&lt;head&gt; holds metadata (like &lt;title&gt;); &lt;body&gt; holds visible content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310896" cy="31089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438144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&lt;h1&gt;–&lt;h6&gt; create a heading hierarchy; &lt;p&gt; defines paragraphs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187952"/>
            <a:ext cx="310896" cy="31089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151376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&lt;br&gt; forces a line break; &lt;!-- --&gt; adds comments the browser ignores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10896" cy="310896"/>
          </a:xfrm>
          <a:prstGeom prst="ellipse">
            <a:avLst/>
          </a:prstGeom>
          <a:solidFill>
            <a:srgbClr val="21C0A5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86460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can carry attributes (e.g. href, class) that add extra information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80644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EAF3F7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W3Schools — HTML Tutorial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Basics – Part 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2026-09-22T11:11:10Z</dcterms:created>
  <dcterms:modified xsi:type="dcterms:W3CDTF">2026-09-22T11:11:10Z</dcterms:modified>
</cp:coreProperties>
</file>