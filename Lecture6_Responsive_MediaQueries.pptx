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240280"/>
            <a:ext cx="1737360" cy="411480"/>
          </a:xfrm>
          <a:prstGeom prst="roundRect">
            <a:avLst>
              <a:gd name="adj" fmla="val 17778"/>
            </a:avLst>
          </a:prstGeom>
          <a:solidFill>
            <a:srgbClr val="21C0A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402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Responsive Design + Media Queries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21C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Viewport  •  Breakpoints  •  Media Query Syntax  •  Adapting Fonts, Spacing, Navigation &amp; Columns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68680" y="4297680"/>
            <a:ext cx="2926080" cy="0"/>
          </a:xfrm>
          <a:prstGeom prst="line">
            <a:avLst/>
          </a:prstGeom>
          <a:noFill/>
          <a:ln w="25400">
            <a:solidFill>
              <a:srgbClr val="21C0A5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Responsive Web Design?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60350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web design makes a page look and work well on every screen size — mobile, tablet, laptop and desktop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HTML page adapts instead of building separate sites for each device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flexible layouts, relative units (%, em, rem), flexible images, and media queries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today because a large share of web traffic comes from phones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223760" y="2103120"/>
            <a:ext cx="2926080" cy="2011680"/>
          </a:xfrm>
          <a:prstGeom prst="roundRect">
            <a:avLst>
              <a:gd name="adj" fmla="val 3636"/>
            </a:avLst>
          </a:prstGeom>
          <a:solidFill>
            <a:srgbClr val="EAF3F7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0" y="210312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Desktop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332720" y="2651760"/>
            <a:ext cx="1280160" cy="1463040"/>
          </a:xfrm>
          <a:prstGeom prst="roundRect">
            <a:avLst>
              <a:gd name="adj" fmla="val 5714"/>
            </a:avLst>
          </a:prstGeom>
          <a:solidFill>
            <a:srgbClr val="EAF3F7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0" y="2651760"/>
            <a:ext cx="1280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412480" y="4434840"/>
            <a:ext cx="822960" cy="1371600"/>
          </a:xfrm>
          <a:prstGeom prst="roundRect">
            <a:avLst>
              <a:gd name="adj" fmla="val 11111"/>
            </a:avLst>
          </a:prstGeom>
          <a:solidFill>
            <a:srgbClr val="EAF3F7"/>
          </a:solidFill>
          <a:ln w="25400">
            <a:solidFill>
              <a:srgbClr val="21C0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0" y="4434840"/>
            <a:ext cx="822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 + Media Queries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Viewport Meta Tag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852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viewport is the visible area of a web page on the user's screen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viewport tag, mobile browsers shrink the page as if it were a desktop screen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this tag inside &lt;head&gt; of every page you want to be responsive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width=device-width matches the screen width; initial-scale=1 sets the starting zoom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766560" y="1965960"/>
            <a:ext cx="4846320" cy="3291840"/>
          </a:xfrm>
          <a:prstGeom prst="roundRect">
            <a:avLst>
              <a:gd name="adj" fmla="val 2222"/>
            </a:avLst>
          </a:prstGeom>
          <a:solidFill>
            <a:srgbClr val="10243A"/>
          </a:solidFill>
          <a:ln/>
        </p:spPr>
      </p:sp>
      <p:sp>
        <p:nvSpPr>
          <p:cNvPr id="7" name="Shape 5"/>
          <p:cNvSpPr/>
          <p:nvPr/>
        </p:nvSpPr>
        <p:spPr>
          <a:xfrm>
            <a:off x="6931152" y="211226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0" y="2112264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9" name="Shape 7"/>
          <p:cNvSpPr/>
          <p:nvPr/>
        </p:nvSpPr>
        <p:spPr>
          <a:xfrm>
            <a:off x="7333488" y="2112264"/>
            <a:ext cx="128016" cy="12801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0" y="2350008"/>
            <a:ext cx="42976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&lt;meta charset="UTF-8"&gt;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&lt;meta name="viewport"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content="width=device-width,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initial-scale=1.0"&gt;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&lt;title&gt;My Page&lt;/title&gt;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 + Media Queries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BREAKPOINTS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Breakpoints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breakpoint is a screen width at which the layout changes. Common starting points (adjust to your design):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3566160" cy="2926080"/>
          </a:xfrm>
          <a:prstGeom prst="roundRect">
            <a:avLst>
              <a:gd name="adj" fmla="val 3125"/>
            </a:avLst>
          </a:prstGeom>
          <a:solidFill>
            <a:srgbClr val="EAF3F7"/>
          </a:solidFill>
          <a:ln/>
        </p:spPr>
      </p:sp>
      <p:sp>
        <p:nvSpPr>
          <p:cNvPr id="7" name="Shape 5"/>
          <p:cNvSpPr/>
          <p:nvPr/>
        </p:nvSpPr>
        <p:spPr>
          <a:xfrm>
            <a:off x="1874520" y="274320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1874520" y="2743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37947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" y="42062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 to 600px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6177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column, stacked navigation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97680" y="2514600"/>
            <a:ext cx="3566160" cy="2926080"/>
          </a:xfrm>
          <a:prstGeom prst="roundRect">
            <a:avLst>
              <a:gd name="adj" fmla="val 3125"/>
            </a:avLst>
          </a:prstGeom>
          <a:solidFill>
            <a:srgbClr val="EAF3F7"/>
          </a:solidFill>
          <a:ln/>
        </p:spPr>
      </p:sp>
      <p:sp>
        <p:nvSpPr>
          <p:cNvPr id="13" name="Shape 11"/>
          <p:cNvSpPr/>
          <p:nvPr/>
        </p:nvSpPr>
        <p:spPr>
          <a:xfrm>
            <a:off x="5623560" y="274320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5623560" y="2743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297680" y="37947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297680" y="42062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601px – 992px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80560" y="46177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columns, condensed spacing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46720" y="2514600"/>
            <a:ext cx="3566160" cy="2926080"/>
          </a:xfrm>
          <a:prstGeom prst="roundRect">
            <a:avLst>
              <a:gd name="adj" fmla="val 3125"/>
            </a:avLst>
          </a:prstGeom>
          <a:solidFill>
            <a:srgbClr val="EAF3F7"/>
          </a:solidFill>
          <a:ln/>
        </p:spPr>
      </p:sp>
      <p:sp>
        <p:nvSpPr>
          <p:cNvPr id="19" name="Shape 17"/>
          <p:cNvSpPr/>
          <p:nvPr/>
        </p:nvSpPr>
        <p:spPr>
          <a:xfrm>
            <a:off x="9372600" y="2743200"/>
            <a:ext cx="914400" cy="914400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20" name="Text 18"/>
          <p:cNvSpPr/>
          <p:nvPr/>
        </p:nvSpPr>
        <p:spPr>
          <a:xfrm>
            <a:off x="9372600" y="2743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046720" y="37947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Desktop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046720" y="42062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993px and above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0" y="46177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Multi-column, full navigation bar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 + Media Queries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 Query Syntax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669280" cy="3931920"/>
          </a:xfrm>
          <a:prstGeom prst="roundRect">
            <a:avLst>
              <a:gd name="adj" fmla="val 1860"/>
            </a:avLst>
          </a:prstGeom>
          <a:solidFill>
            <a:srgbClr val="10243A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206654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066544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8" name="Shape 6"/>
          <p:cNvSpPr/>
          <p:nvPr/>
        </p:nvSpPr>
        <p:spPr>
          <a:xfrm>
            <a:off x="1115568" y="2066544"/>
            <a:ext cx="128016" cy="12801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304288"/>
            <a:ext cx="51206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(max-width: 600px)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body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background-color: lightblue;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h1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font-size: 24px;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92240" y="2048256"/>
            <a:ext cx="256032" cy="256032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11" name="Text 9"/>
          <p:cNvSpPr/>
          <p:nvPr/>
        </p:nvSpPr>
        <p:spPr>
          <a:xfrm>
            <a:off x="6903720" y="20116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903720" y="2395728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a media query block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92240" y="3374136"/>
            <a:ext cx="256032" cy="256032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14" name="Text 12"/>
          <p:cNvSpPr/>
          <p:nvPr/>
        </p:nvSpPr>
        <p:spPr>
          <a:xfrm>
            <a:off x="6903720" y="33375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(max-width: 600px)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903720" y="3721608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condition — true when the screen is 600px wide or less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92240" y="4700016"/>
            <a:ext cx="256032" cy="256032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17" name="Text 15"/>
          <p:cNvSpPr/>
          <p:nvPr/>
        </p:nvSpPr>
        <p:spPr>
          <a:xfrm>
            <a:off x="6903720" y="46634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... }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903720" y="5047488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rules applied only when the condition is true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 + Media Queries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min-width vs. max-width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max-width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5303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when the screen is this wide OR SMALLER. Used for desktop-first design.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5303520" cy="1737360"/>
          </a:xfrm>
          <a:prstGeom prst="roundRect">
            <a:avLst>
              <a:gd name="adj" fmla="val 4211"/>
            </a:avLst>
          </a:prstGeom>
          <a:solidFill>
            <a:srgbClr val="10243A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348386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3483864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0" name="Shape 8"/>
          <p:cNvSpPr/>
          <p:nvPr/>
        </p:nvSpPr>
        <p:spPr>
          <a:xfrm>
            <a:off x="1115568" y="3483864"/>
            <a:ext cx="128016" cy="12801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721608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(max-width: 768px)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.menu { display: none; }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09360" y="192024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min-width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09360" y="2377440"/>
            <a:ext cx="5303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when the screen is this wide OR LARGER. Used for mobile-first design (recommended).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3337560"/>
            <a:ext cx="5303520" cy="1737360"/>
          </a:xfrm>
          <a:prstGeom prst="roundRect">
            <a:avLst>
              <a:gd name="adj" fmla="val 4211"/>
            </a:avLst>
          </a:prstGeom>
          <a:solidFill>
            <a:srgbClr val="10243A"/>
          </a:solidFill>
          <a:ln/>
        </p:spPr>
      </p:sp>
      <p:sp>
        <p:nvSpPr>
          <p:cNvPr id="15" name="Shape 13"/>
          <p:cNvSpPr/>
          <p:nvPr/>
        </p:nvSpPr>
        <p:spPr>
          <a:xfrm>
            <a:off x="6473952" y="348386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Shape 14"/>
          <p:cNvSpPr/>
          <p:nvPr/>
        </p:nvSpPr>
        <p:spPr>
          <a:xfrm>
            <a:off x="6675120" y="3483864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7" name="Shape 15"/>
          <p:cNvSpPr/>
          <p:nvPr/>
        </p:nvSpPr>
        <p:spPr>
          <a:xfrm>
            <a:off x="6876288" y="3483864"/>
            <a:ext cx="128016" cy="12801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3721608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(min-width: 768px)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.cards { flex-direction: row; }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AF3F7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3492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Mobile-first: write base styles for small screens, then use min-width queries to add enhancements for larger screens.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 + Media Queries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ADAPTING DESIGN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Adapting Fonts &amp; Spacing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6692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relative units (rem, em, %) so text and spacing scale naturally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heading sizes and padding on small screens to save space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body text readable — roughly 16px minimum on mobile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max-width: 100% on images so they never overflow the screen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0" y="1965960"/>
            <a:ext cx="5029200" cy="3566160"/>
          </a:xfrm>
          <a:prstGeom prst="roundRect">
            <a:avLst>
              <a:gd name="adj" fmla="val 2051"/>
            </a:avLst>
          </a:prstGeom>
          <a:solidFill>
            <a:srgbClr val="10243A"/>
          </a:solidFill>
          <a:ln/>
        </p:spPr>
      </p:sp>
      <p:sp>
        <p:nvSpPr>
          <p:cNvPr id="7" name="Shape 5"/>
          <p:cNvSpPr/>
          <p:nvPr/>
        </p:nvSpPr>
        <p:spPr>
          <a:xfrm>
            <a:off x="6748272" y="211226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Shape 6"/>
          <p:cNvSpPr/>
          <p:nvPr/>
        </p:nvSpPr>
        <p:spPr>
          <a:xfrm>
            <a:off x="6949440" y="2112264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9" name="Shape 7"/>
          <p:cNvSpPr/>
          <p:nvPr/>
        </p:nvSpPr>
        <p:spPr>
          <a:xfrm>
            <a:off x="7150608" y="2112264"/>
            <a:ext cx="128016" cy="12801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0" y="2350008"/>
            <a:ext cx="44805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{ font-size: 40px; }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.container { padding: 40px; }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 { max-width: 100%; height: auto; }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(max-width: 600px) 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h1 { font-size: 26px; }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.container { padding: 15px; }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 + Media Queries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ADAPTING DESIGN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Adapting Navigation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03520" cy="3931920"/>
          </a:xfrm>
          <a:prstGeom prst="roundRect">
            <a:avLst>
              <a:gd name="adj" fmla="val 1860"/>
            </a:avLst>
          </a:prstGeom>
          <a:solidFill>
            <a:srgbClr val="10243A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206654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066544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8" name="Shape 6"/>
          <p:cNvSpPr/>
          <p:nvPr/>
        </p:nvSpPr>
        <p:spPr>
          <a:xfrm>
            <a:off x="1115568" y="2066544"/>
            <a:ext cx="128016" cy="12801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304288"/>
            <a:ext cx="47548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.menu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flex;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gap: 20px;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(max-width: 600px)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.menu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flex-direction: column;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gap: 10px;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9360" y="1920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Desktop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309360" y="2331720"/>
            <a:ext cx="5303520" cy="640080"/>
          </a:xfrm>
          <a:prstGeom prst="roundRect">
            <a:avLst>
              <a:gd name="adj" fmla="val 8571"/>
            </a:avLst>
          </a:prstGeom>
          <a:solidFill>
            <a:srgbClr val="21295C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33172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     About      Services      Contact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09360" y="32918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09360" y="3703320"/>
            <a:ext cx="2377440" cy="2148840"/>
          </a:xfrm>
          <a:prstGeom prst="roundRect">
            <a:avLst>
              <a:gd name="adj" fmla="val 2553"/>
            </a:avLst>
          </a:prstGeom>
          <a:solidFill>
            <a:srgbClr val="21295C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3703320"/>
            <a:ext cx="237744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961120" y="3840480"/>
            <a:ext cx="2651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small screens the links stack vertically — easier to tap with a thumb.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 + Media Queries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ADAPTING DESIGN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Adapting Columns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Desktop: 3 columns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423160"/>
            <a:ext cx="1024128" cy="1554480"/>
          </a:xfrm>
          <a:prstGeom prst="roundRect">
            <a:avLst>
              <a:gd name="adj" fmla="val 4464"/>
            </a:avLst>
          </a:prstGeom>
          <a:solidFill>
            <a:srgbClr val="065A82"/>
          </a:solidFill>
          <a:ln/>
        </p:spPr>
      </p:sp>
      <p:sp>
        <p:nvSpPr>
          <p:cNvPr id="8" name="Shape 6"/>
          <p:cNvSpPr/>
          <p:nvPr/>
        </p:nvSpPr>
        <p:spPr>
          <a:xfrm>
            <a:off x="1819656" y="2423160"/>
            <a:ext cx="1024128" cy="1554480"/>
          </a:xfrm>
          <a:prstGeom prst="roundRect">
            <a:avLst>
              <a:gd name="adj" fmla="val 4464"/>
            </a:avLst>
          </a:prstGeom>
          <a:solidFill>
            <a:srgbClr val="065A82"/>
          </a:solidFill>
          <a:ln/>
        </p:spPr>
      </p:sp>
      <p:sp>
        <p:nvSpPr>
          <p:cNvPr id="9" name="Shape 7"/>
          <p:cNvSpPr/>
          <p:nvPr/>
        </p:nvSpPr>
        <p:spPr>
          <a:xfrm>
            <a:off x="2953512" y="2423160"/>
            <a:ext cx="1024128" cy="1554480"/>
          </a:xfrm>
          <a:prstGeom prst="roundRect">
            <a:avLst>
              <a:gd name="adj" fmla="val 4464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1828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Tablet: 2 columns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97680" y="228600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34840" y="2423160"/>
            <a:ext cx="1591056" cy="1554480"/>
          </a:xfrm>
          <a:prstGeom prst="roundRect">
            <a:avLst>
              <a:gd name="adj" fmla="val 2941"/>
            </a:avLst>
          </a:prstGeom>
          <a:solidFill>
            <a:srgbClr val="1C7293"/>
          </a:solidFill>
          <a:ln/>
        </p:spPr>
      </p:sp>
      <p:sp>
        <p:nvSpPr>
          <p:cNvPr id="13" name="Shape 11"/>
          <p:cNvSpPr/>
          <p:nvPr/>
        </p:nvSpPr>
        <p:spPr>
          <a:xfrm>
            <a:off x="6135624" y="2423160"/>
            <a:ext cx="1591056" cy="1554480"/>
          </a:xfrm>
          <a:prstGeom prst="roundRect">
            <a:avLst>
              <a:gd name="adj" fmla="val 2941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0" y="1828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Mobile: 1 column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46720" y="228600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1C0A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83880" y="2423160"/>
            <a:ext cx="3291840" cy="1554480"/>
          </a:xfrm>
          <a:prstGeom prst="roundRect">
            <a:avLst>
              <a:gd name="adj" fmla="val 2941"/>
            </a:avLst>
          </a:prstGeom>
          <a:solidFill>
            <a:srgbClr val="21C0A5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43484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10243A"/>
          </a:solidFill>
          <a:ln/>
        </p:spPr>
      </p:sp>
      <p:sp>
        <p:nvSpPr>
          <p:cNvPr id="18" name="Shape 16"/>
          <p:cNvSpPr/>
          <p:nvPr/>
        </p:nvSpPr>
        <p:spPr>
          <a:xfrm>
            <a:off x="713232" y="458114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Shape 17"/>
          <p:cNvSpPr/>
          <p:nvPr/>
        </p:nvSpPr>
        <p:spPr>
          <a:xfrm>
            <a:off x="914400" y="4581144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20" name="Shape 18"/>
          <p:cNvSpPr/>
          <p:nvPr/>
        </p:nvSpPr>
        <p:spPr>
          <a:xfrm>
            <a:off x="1115568" y="4581144"/>
            <a:ext cx="128016" cy="12801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818888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.cards { display: grid; grid-template-columns: repeat(3, 1fr); gap: 20px; }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(max-width: 992px) { .cards { grid-template-columns: repeat(2, 1fr); } }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(max-width: 600px) { .cards { grid-template-columns: 1fr; } }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 + Media Queries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with Browser Developer Tools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417320" y="1874520"/>
            <a:ext cx="10149840" cy="594360"/>
          </a:xfrm>
          <a:prstGeom prst="roundRect">
            <a:avLst>
              <a:gd name="adj" fmla="val 12308"/>
            </a:avLst>
          </a:prstGeom>
          <a:solidFill>
            <a:srgbClr val="EAF3F7"/>
          </a:solidFill>
          <a:ln/>
        </p:spPr>
      </p:sp>
      <p:sp>
        <p:nvSpPr>
          <p:cNvPr id="8" name="Text 6"/>
          <p:cNvSpPr/>
          <p:nvPr/>
        </p:nvSpPr>
        <p:spPr>
          <a:xfrm>
            <a:off x="1691640" y="1874520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page in Chrome or Edge via http://localhost/...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72491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24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417320" y="2679192"/>
            <a:ext cx="10149840" cy="594360"/>
          </a:xfrm>
          <a:prstGeom prst="roundRect">
            <a:avLst>
              <a:gd name="adj" fmla="val 12308"/>
            </a:avLst>
          </a:prstGeom>
          <a:solidFill>
            <a:srgbClr val="EAF3F7"/>
          </a:solidFill>
          <a:ln/>
        </p:spPr>
      </p:sp>
      <p:sp>
        <p:nvSpPr>
          <p:cNvPr id="12" name="Text 10"/>
          <p:cNvSpPr/>
          <p:nvPr/>
        </p:nvSpPr>
        <p:spPr>
          <a:xfrm>
            <a:off x="1691640" y="2679192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F12 (or right-click → Inspect) to open DevTools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529584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5295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417320" y="3483864"/>
            <a:ext cx="10149840" cy="594360"/>
          </a:xfrm>
          <a:prstGeom prst="roundRect">
            <a:avLst>
              <a:gd name="adj" fmla="val 12308"/>
            </a:avLst>
          </a:prstGeom>
          <a:solidFill>
            <a:srgbClr val="EAF3F7"/>
          </a:solidFill>
          <a:ln/>
        </p:spPr>
      </p:sp>
      <p:sp>
        <p:nvSpPr>
          <p:cNvPr id="16" name="Text 14"/>
          <p:cNvSpPr/>
          <p:nvPr/>
        </p:nvSpPr>
        <p:spPr>
          <a:xfrm>
            <a:off x="1691640" y="3483864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Toggle Device Toolbar icon (or press Ctrl + Shift + M)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334256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3342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417320" y="4288536"/>
            <a:ext cx="10149840" cy="594360"/>
          </a:xfrm>
          <a:prstGeom prst="roundRect">
            <a:avLst>
              <a:gd name="adj" fmla="val 12308"/>
            </a:avLst>
          </a:prstGeom>
          <a:solidFill>
            <a:srgbClr val="EAF3F7"/>
          </a:solidFill>
          <a:ln/>
        </p:spPr>
      </p:sp>
      <p:sp>
        <p:nvSpPr>
          <p:cNvPr id="20" name="Text 18"/>
          <p:cNvSpPr/>
          <p:nvPr/>
        </p:nvSpPr>
        <p:spPr>
          <a:xfrm>
            <a:off x="1691640" y="4288536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device preset or drag the width to test your breakpoints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513892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51389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417320" y="5093208"/>
            <a:ext cx="10149840" cy="594360"/>
          </a:xfrm>
          <a:prstGeom prst="roundRect">
            <a:avLst>
              <a:gd name="adj" fmla="val 12308"/>
            </a:avLst>
          </a:prstGeom>
          <a:solidFill>
            <a:srgbClr val="EAF3F7"/>
          </a:solidFill>
          <a:ln/>
        </p:spPr>
      </p:sp>
      <p:sp>
        <p:nvSpPr>
          <p:cNvPr id="24" name="Text 22"/>
          <p:cNvSpPr/>
          <p:nvPr/>
        </p:nvSpPr>
        <p:spPr>
          <a:xfrm>
            <a:off x="1691640" y="5093208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text, images, navigation and columns at each size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 + Media Queries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3657600" cy="36576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188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1C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TASK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Your Webpage Responsive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880360"/>
            <a:ext cx="320040" cy="320040"/>
          </a:xfrm>
          <a:prstGeom prst="roundRect">
            <a:avLst>
              <a:gd name="adj" fmla="val 17143"/>
            </a:avLst>
          </a:prstGeom>
          <a:ln w="19050">
            <a:solidFill>
              <a:srgbClr val="21C0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2807208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viewport meta tag to your previous webpage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3502152"/>
            <a:ext cx="320040" cy="320040"/>
          </a:xfrm>
          <a:prstGeom prst="roundRect">
            <a:avLst>
              <a:gd name="adj" fmla="val 17143"/>
            </a:avLst>
          </a:prstGeom>
          <a:ln w="19050">
            <a:solidFill>
              <a:srgbClr val="21C0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3429000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media queries for mobile, tablet and desktop widths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4123944"/>
            <a:ext cx="320040" cy="320040"/>
          </a:xfrm>
          <a:prstGeom prst="roundRect">
            <a:avLst>
              <a:gd name="adj" fmla="val 17143"/>
            </a:avLst>
          </a:prstGeom>
          <a:ln w="19050">
            <a:solidFill>
              <a:srgbClr val="21C0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4050792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font sizes and spacing at each breakpoint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22960" y="4745736"/>
            <a:ext cx="320040" cy="320040"/>
          </a:xfrm>
          <a:prstGeom prst="roundRect">
            <a:avLst>
              <a:gd name="adj" fmla="val 17143"/>
            </a:avLst>
          </a:prstGeom>
          <a:ln w="19050">
            <a:solidFill>
              <a:srgbClr val="21C0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4672584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navigation stack and the columns reflow on small screens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2960" y="5367528"/>
            <a:ext cx="320040" cy="320040"/>
          </a:xfrm>
          <a:prstGeom prst="roundRect">
            <a:avLst>
              <a:gd name="adj" fmla="val 17143"/>
            </a:avLst>
          </a:prstGeom>
          <a:ln w="19050">
            <a:solidFill>
              <a:srgbClr val="21C0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5294376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using browser developer tools and different device sizes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 + Media Queries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048256"/>
            <a:ext cx="310896" cy="31089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01168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 lets one page adapt to any screen size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761488"/>
            <a:ext cx="310896" cy="31089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72491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viewport meta tag is required for correct scaling on mobile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474720"/>
            <a:ext cx="310896" cy="31089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438144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Breakpoints mark the widths where the layout changes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4187952"/>
            <a:ext cx="310896" cy="31089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4151376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@media (min-width / max-width) applies CSS only at certain screen sizes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10896" cy="31089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864608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fonts, spacing, navigation and columns, then test in DevTools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80644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EAF3F7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W3Schools — Responsive Web Design / Media Queries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 + Media Queries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2026-10-14T13:54:00Z</dcterms:created>
  <dcterms:modified xsi:type="dcterms:W3CDTF">2026-10-14T13:54:00Z</dcterms:modified>
</cp:coreProperties>
</file>