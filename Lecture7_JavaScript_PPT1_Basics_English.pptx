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8" d="100"/>
          <a:sy n="108" d="100"/>
        </p:scale>
        <p:origin x="-276" y="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D2D9E-CF1E-47A4-B6AB-CCC63FFB31E4}" type="datetimeFigureOut">
              <a:rPr lang="en-US" smtClean="0"/>
              <a:t>10/23/2026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3A06E2-F890-4D23-92E5-5543A7B486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828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1371600"/>
            <a:ext cx="1828800" cy="182880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2926080" y="1188720"/>
            <a:ext cx="5760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JavaScript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2926080" y="210312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1: The Basics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2926080" y="283464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BBB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Operators and Console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JavaScript?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is a programming language.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makes websites "alive" and interactive.</a:t>
            </a:r>
            <a:endParaRPr lang="en-US" sz="19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used in websites, mobile apps and games.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3063240"/>
            <a:ext cx="73152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5204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walls of a house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337560" y="29260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3063240"/>
            <a:ext cx="73152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65760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35204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the paint of a house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2468880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3063240"/>
            <a:ext cx="73152" cy="365760"/>
          </a:xfrm>
          <a:prstGeom prst="rect">
            <a:avLst/>
          </a:prstGeom>
          <a:solidFill>
            <a:srgbClr val="A16207"/>
          </a:solidFill>
          <a:ln w="12700">
            <a:solidFill>
              <a:srgbClr val="A16207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46520" y="30175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A162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3520440"/>
            <a:ext cx="2103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 opening the door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Created JavaScript?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97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Brendan Eich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1995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Netscape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Amazing fact: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 made it in only 10 days!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names: </a:t>
            </a: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Mocha, then LiveScript, then JavaScript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0" y="1005840"/>
            <a:ext cx="2743200" cy="3566160"/>
          </a:xfrm>
          <a:prstGeom prst="roundRect">
            <a:avLst>
              <a:gd name="adj" fmla="val 3333"/>
            </a:avLst>
          </a:prstGeom>
          <a:solidFill>
            <a:srgbClr val="ECECEC"/>
          </a:solidFill>
          <a:ln w="19050">
            <a:solidFill>
              <a:srgbClr val="999999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6035040" y="39319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22222"/>
                </a:solidFill>
              </a:rPr>
              <a:t>Brendan Eich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005840"/>
            <a:ext cx="2743200" cy="306499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JS to HTML (Method 1)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</a:rPr>
              <a:t>Write JavaScript inside the &lt;script&gt; tag: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4754880" cy="3108960"/>
          </a:xfrm>
          <a:prstGeom prst="roundRect">
            <a:avLst>
              <a:gd name="adj" fmla="val 235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554480"/>
            <a:ext cx="43891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&lt;html&gt;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&lt;h1&gt;Hello&lt;/h1&gt;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&lt;script&gt;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alert("Hello!");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&lt;/script&gt;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&lt;/html&gt;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77840" y="1463040"/>
            <a:ext cx="3017520" cy="310896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15000" y="160020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97880" y="15544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2057400"/>
            <a:ext cx="265176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JS between &lt;script&gt; and &lt;/script&gt;.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It is best to put &lt;script&gt; just before &lt;/body&gt;.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alert() shows a small popup.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JS to HTML (Method 2)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</a:rPr>
              <a:t>Write JS in a separate file and link it: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2410C"/>
                </a:solidFill>
              </a:rPr>
              <a:t>index.html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5120640" cy="1371600"/>
          </a:xfrm>
          <a:prstGeom prst="roundRect">
            <a:avLst>
              <a:gd name="adj" fmla="val 5333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87452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&lt;h1&gt;Hello&lt;/h1&gt;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&lt;script src="script.js"&gt;&lt;/script&gt;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91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16207"/>
                </a:solidFill>
              </a:rPr>
              <a:t>script.js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611880"/>
            <a:ext cx="5120640" cy="822960"/>
          </a:xfrm>
          <a:prstGeom prst="roundRect">
            <a:avLst>
              <a:gd name="adj" fmla="val 888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370332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alert("Hello!");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0" y="1463040"/>
            <a:ext cx="2651760" cy="297180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0760" y="160020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26364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it?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0574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code stays clean.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JS file can be used in many pages.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projects always use this method.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Console?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console is a special place in the browser where JS shows results.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open it, press F12 on your keyboard, then click the Console tab.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console.log() to print anything and check your work.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926080"/>
            <a:ext cx="4572000" cy="1554480"/>
          </a:xfrm>
          <a:prstGeom prst="roundRect">
            <a:avLst>
              <a:gd name="adj" fmla="val 4706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301752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console.log("Hello World!");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console.log(5 + 3);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486400" y="29260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0" y="3200400"/>
            <a:ext cx="3108960" cy="1280160"/>
          </a:xfrm>
          <a:prstGeom prst="roundRect">
            <a:avLst>
              <a:gd name="adj" fmla="val 4286"/>
            </a:avLst>
          </a:prstGeom>
          <a:solidFill>
            <a:srgbClr val="E7F5EC"/>
          </a:solidFill>
          <a:ln w="12700">
            <a:solidFill>
              <a:srgbClr val="86C9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623560" y="3200400"/>
            <a:ext cx="2834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Hello World!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Comments?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40233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comment is a line the computer ignores.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only a note to help humans understand the code.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line: 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//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lines: 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between /* and */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54880" y="1097280"/>
            <a:ext cx="3931920" cy="2377440"/>
          </a:xfrm>
          <a:prstGeom prst="roundRect">
            <a:avLst>
              <a:gd name="adj" fmla="val 3077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937760" y="118872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This is a single line comment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age = 10; // value of age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/* This is a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multi line comment */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console.log(age);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3611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3886200"/>
            <a:ext cx="3931920" cy="685800"/>
          </a:xfrm>
          <a:prstGeom prst="roundRect">
            <a:avLst>
              <a:gd name="adj" fmla="val 8000"/>
            </a:avLst>
          </a:prstGeom>
          <a:solidFill>
            <a:srgbClr val="E7F5EC"/>
          </a:solidFill>
          <a:ln w="12700">
            <a:solidFill>
              <a:srgbClr val="86C9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92040" y="388620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Variable?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4572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box that stores data.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box has a name.</a:t>
            </a:r>
            <a:endParaRPr lang="en-US" sz="1700" dirty="0"/>
          </a:p>
          <a:p>
            <a:pPr marL="342900" indent="-342900">
              <a:buSzPct val="100000"/>
              <a:buChar char="•"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Uses: </a:t>
            </a: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data, use it again and again, and change it later.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0" y="14630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7DF1E"/>
          </a:solidFill>
          <a:ln w="25400">
            <a:solidFill>
              <a:srgbClr val="1E1E1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0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"Ali"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132320" y="10972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132320" y="1463040"/>
            <a:ext cx="1463040" cy="1188720"/>
          </a:xfrm>
          <a:prstGeom prst="roundRect">
            <a:avLst>
              <a:gd name="adj" fmla="val 7692"/>
            </a:avLst>
          </a:prstGeom>
          <a:solidFill>
            <a:srgbClr val="F7DF1E"/>
          </a:solidFill>
          <a:ln w="25400">
            <a:solidFill>
              <a:srgbClr val="1E1E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132320" y="1463040"/>
            <a:ext cx="1463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E1E1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4572000" cy="1188720"/>
          </a:xfrm>
          <a:prstGeom prst="roundRect">
            <a:avLst>
              <a:gd name="adj" fmla="val 6154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31520" y="3474720"/>
            <a:ext cx="4206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name = "Ali";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age = 12;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console.log(name);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338328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3657600"/>
            <a:ext cx="3108960" cy="914400"/>
          </a:xfrm>
          <a:prstGeom prst="roundRect">
            <a:avLst>
              <a:gd name="adj" fmla="val 6000"/>
            </a:avLst>
          </a:prstGeom>
          <a:solidFill>
            <a:srgbClr val="E7F5EC"/>
          </a:solidFill>
          <a:ln w="12700">
            <a:solidFill>
              <a:srgbClr val="86C9A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623560" y="3657600"/>
            <a:ext cx="2834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Types of Variables: var, let, const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43000"/>
            <a:ext cx="73152" cy="365760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way.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Rarely used now.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14300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can be changed.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43000"/>
            <a:ext cx="73152" cy="36576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60020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 is fixed,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be changed.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57200" y="2697480"/>
            <a:ext cx="5120640" cy="1874520"/>
          </a:xfrm>
          <a:prstGeom prst="roundRect">
            <a:avLst>
              <a:gd name="adj" fmla="val 3902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788920"/>
            <a:ext cx="475488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score = 5;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 = 10;      // OK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pi = 3.14;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 = 5;          // ERROR!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852160" y="2697480"/>
            <a:ext cx="2834640" cy="1874520"/>
          </a:xfrm>
          <a:prstGeom prst="roundRect">
            <a:avLst>
              <a:gd name="adj" fmla="val 3902"/>
            </a:avLst>
          </a:prstGeom>
          <a:solidFill>
            <a:srgbClr val="FFF3B0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035040" y="2697480"/>
            <a:ext cx="2468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const most of the time.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let when the value must change.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Data Type?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222222"/>
                </a:solidFill>
              </a:rPr>
              <a:t>A data type tells what kind of data a variable holds (text, number, etc.).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96596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Primitive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2423160"/>
            <a:ext cx="3474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data.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 holds one value.</a:t>
            </a: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"Ali", 25, true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754880" y="1828800"/>
            <a:ext cx="384048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92040" y="1965960"/>
            <a:ext cx="7315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74920" y="1920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Non-Primitive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2423160"/>
            <a:ext cx="347472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 data.</a:t>
            </a: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box holds many values.</a:t>
            </a:r>
            <a:endParaRPr lang="en-US" sz="1600" dirty="0" smtClean="0"/>
          </a:p>
          <a:p>
            <a:pPr marL="0" indent="0">
              <a:buNone/>
            </a:pPr>
            <a:endParaRPr lang="en-US" sz="1600" dirty="0" smtClean="0"/>
          </a:p>
          <a:p>
            <a:pPr marL="0" indent="0">
              <a:buNone/>
            </a:pPr>
            <a:r>
              <a:rPr lang="en-US" sz="1600" dirty="0" smtClean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Array, Object, Function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Primitive Data Types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2304288"/>
        </p:xfrm>
        <a:graphic>
          <a:graphicData uri="http://schemas.openxmlformats.org/drawingml/2006/table">
            <a:tbl>
              <a:tblPr/>
              <a:tblGrid>
                <a:gridCol w="2011680"/>
                <a:gridCol w="3291840"/>
                <a:gridCol w="2743200"/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E1E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DF1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String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"Ali"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25, 3.5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Boolean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or No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true, false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Undefined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value given yet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x;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Null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on purpose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 y = null;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6DC9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3520440"/>
            <a:ext cx="8046720" cy="502920"/>
          </a:xfrm>
          <a:prstGeom prst="roundRect">
            <a:avLst>
              <a:gd name="adj" fmla="val 14545"/>
            </a:avLst>
          </a:prstGeom>
          <a:solidFill>
            <a:srgbClr val="FFF3B0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3520440"/>
            <a:ext cx="7680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are 7 primitive types in total (BigInt and Symbol too). These 5 are enough to start.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4114800"/>
            <a:ext cx="8046720" cy="640080"/>
          </a:xfrm>
          <a:prstGeom prst="roundRect">
            <a:avLst>
              <a:gd name="adj" fmla="val 11429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"Ali"   // "string"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typeof 25      // "number"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Non-Primitive Data Types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143000"/>
            <a:ext cx="7315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600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 of items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246120" y="10058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0" y="1143000"/>
            <a:ext cx="7315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6616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600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Details about one thing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035040" y="1005840"/>
            <a:ext cx="26517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72200" y="1143000"/>
            <a:ext cx="7315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5508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6217920" y="1600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block of code that does a job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Operators?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9601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22222"/>
                </a:solidFill>
              </a:rPr>
              <a:t>An operator is a symbol that does a job, like + (add).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600200"/>
            <a:ext cx="73152" cy="365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(maths)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057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 -  *  /  %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+ 5 = 15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663440" y="146304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600200"/>
            <a:ext cx="73152" cy="365760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983480" y="155448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D4E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(give value)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0574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 +=  -=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x = 10;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31546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3291840"/>
            <a:ext cx="73152" cy="36576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749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 &lt;  ===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&gt; 5 gives true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663440" y="315468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6DC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3291840"/>
            <a:ext cx="73152" cy="36576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83480" y="3246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Logical (and / or / not)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846320" y="374904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&amp;&amp;  ||  !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&amp;&amp; false gives false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Expressions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8046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expression is code that gives a value.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Values and operators together make an expression.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10 + 5 is an expression, and its answer is 15.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743200"/>
            <a:ext cx="4754880" cy="18288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2834640"/>
            <a:ext cx="4389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10;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 = 5;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sum = a + b;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console.log(sum);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8F8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console.log(a &gt; b);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27432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0" y="3017520"/>
            <a:ext cx="2926080" cy="1554480"/>
          </a:xfrm>
          <a:prstGeom prst="roundRect">
            <a:avLst>
              <a:gd name="adj" fmla="val 3529"/>
            </a:avLst>
          </a:prstGeom>
          <a:solidFill>
            <a:srgbClr val="E7F5EC"/>
          </a:solidFill>
          <a:ln w="12700">
            <a:solidFill>
              <a:srgbClr val="86C9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301752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453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true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B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E1E1E"/>
          </a:solidFill>
          <a:ln w="12700">
            <a:solidFill>
              <a:srgbClr val="1E1E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28600" cy="777240"/>
          </a:xfrm>
          <a:prstGeom prst="rect">
            <a:avLst/>
          </a:prstGeom>
          <a:solidFill>
            <a:srgbClr val="F7DF1E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7DF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We Learn Today?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097280"/>
            <a:ext cx="7863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was created by Brendan Eich in 1995.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link JS to HTML using the &lt;script&gt; tag.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console.log() prints results, and // writes a comment.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Variables: let (can change) and const (fixed).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types: Primitive and Non-Primitive.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and expressions help us calculate.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023360"/>
            <a:ext cx="7863840" cy="594360"/>
          </a:xfrm>
          <a:prstGeom prst="roundRect">
            <a:avLst>
              <a:gd name="adj" fmla="val 12308"/>
            </a:avLst>
          </a:prstGeom>
          <a:solidFill>
            <a:srgbClr val="FFF3B0"/>
          </a:solidFill>
          <a:ln w="12700">
            <a:solidFill>
              <a:srgbClr val="F7DF1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4023360"/>
            <a:ext cx="7498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 Keep practicing and you will learn it.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88888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917</Words>
  <Application>Microsoft Office PowerPoint</Application>
  <PresentationFormat>On-screen Show (16:9)</PresentationFormat>
  <Paragraphs>211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Basics</dc:title>
  <dc:subject>PptxGenJS Presentation</dc:subject>
  <dc:creator>PptxGenJS</dc:creator>
  <cp:lastModifiedBy>Windows User</cp:lastModifiedBy>
  <cp:revision>3</cp:revision>
  <dcterms:created xsi:type="dcterms:W3CDTF">2026-10-22T14:06:21Z</dcterms:created>
  <dcterms:modified xsi:type="dcterms:W3CDTF">2026-10-23T14:27:26Z</dcterms:modified>
</cp:coreProperties>
</file>